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DM Sans" pitchFamily="2" charset="0"/>
      <p:regular r:id="rId10"/>
      <p:bold r:id="rId11"/>
    </p:embeddedFont>
    <p:embeddedFont>
      <p:font typeface="PT Serif" panose="020A0603040505020204" pitchFamily="18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48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59305" y="7117326"/>
            <a:ext cx="10889039" cy="748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3600" dirty="0">
                <a:solidFill>
                  <a:srgbClr val="002060"/>
                </a:solidFill>
              </a:rPr>
              <a:t>DOORS (6</a:t>
            </a:r>
            <a:r>
              <a:rPr lang="en-US" sz="3600" baseline="30000" dirty="0">
                <a:solidFill>
                  <a:srgbClr val="002060"/>
                </a:solidFill>
              </a:rPr>
              <a:t>th</a:t>
            </a:r>
            <a:r>
              <a:rPr lang="en-US" sz="3600" dirty="0">
                <a:solidFill>
                  <a:srgbClr val="002060"/>
                </a:solidFill>
              </a:rPr>
              <a:t> European Edge Computing Workshop) 2026 </a:t>
            </a:r>
          </a:p>
        </p:txBody>
      </p:sp>
      <p:sp>
        <p:nvSpPr>
          <p:cNvPr id="6" name="Text 2"/>
          <p:cNvSpPr/>
          <p:nvPr/>
        </p:nvSpPr>
        <p:spPr>
          <a:xfrm>
            <a:off x="3512105" y="2070151"/>
            <a:ext cx="760618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Author: Mridankan Mandal and Smit Sanjay Shende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721509" y="2611238"/>
            <a:ext cx="760618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Indian Institute of Information Technology, Allahabad.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28214" y="4114800"/>
            <a:ext cx="13792781" cy="3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2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Objective:</a:t>
            </a: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Optimize Python based orchestration layers for AI agents on resource constrained edge hardware.</a:t>
            </a: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2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Context:</a:t>
            </a: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Modern edge AI utilizes Python frameworks like LangChain or LlamaIndex to manage high performance C++ inference kernels.</a:t>
            </a:r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24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Constraint:</a:t>
            </a: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While inference is fast, the Python coordination logic often requires high thread counts to mask sensor and network I/O latency, leading to internal serialization.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F49173-02D9-A01C-F424-420448E8C396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52" name="Picture 28" descr="IIIT Allahabad : Admission, Courses, Fees, Eligibility, Dates ...">
            <a:extLst>
              <a:ext uri="{FF2B5EF4-FFF2-40B4-BE49-F238E27FC236}">
                <a16:creationId xmlns:a16="http://schemas.microsoft.com/office/drawing/2014/main" id="{CC3BA08E-0728-906F-E5F7-92F6D1F96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2016" y="6766353"/>
            <a:ext cx="1348979" cy="134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IIIT Allahabad : Admission, Courses, Fees, Eligibility, Dates ...">
            <a:extLst>
              <a:ext uri="{FF2B5EF4-FFF2-40B4-BE49-F238E27FC236}">
                <a16:creationId xmlns:a16="http://schemas.microsoft.com/office/drawing/2014/main" id="{CE23874E-FC3F-A29A-3210-A2431690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260" y="2530909"/>
            <a:ext cx="489670" cy="48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4070D8C-5A1C-350F-BFC1-211524998432}"/>
              </a:ext>
            </a:extLst>
          </p:cNvPr>
          <p:cNvSpPr/>
          <p:nvPr/>
        </p:nvSpPr>
        <p:spPr>
          <a:xfrm>
            <a:off x="641011" y="527764"/>
            <a:ext cx="13527536" cy="162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Mitigating Global Interpreter Lock (GIL) Bottlenecks in Edge AI Systems.</a:t>
            </a:r>
            <a:endParaRPr lang="en-US" sz="4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DC108-1AEB-18A3-A2E8-FFAD9A10E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403" y="2090927"/>
            <a:ext cx="244092" cy="304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2476" y="155842"/>
            <a:ext cx="1002544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Problem: The Saturation Cliff.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275715" y="885723"/>
            <a:ext cx="14305824" cy="424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"Saturation Cliff" is a performance degradation of ≥20% that occurs when the thread count exceeds a workload specific threshold.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Causation: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cliff is triggered by GIL contention and context switch overhead dominating useful computation.</a:t>
            </a: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endParaRPr lang="en-US" sz="2000" b="1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of Existing Solutions: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Multiprocessing: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Bypasses the GIL but introduces approximately 8x memory overhead (20 to 30 MB per worker), causing OOM crashes on devices with 512 MB to 2 GB RAM.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Asyncio: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Provides low overhead, but stalls the entire event loop during CPU bound data serialization or tokenization phases.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Threading: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Naive scaling (like N ≥ 512) frequently results in 40.2% throughput loss on single core devices.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77636-C68B-E523-20CB-C55DAD73A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56" y="5071860"/>
            <a:ext cx="7609761" cy="30018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DCE31B-E7EB-D8CC-5BEB-13BDC07C8C44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24972F-BF9F-9E3E-2D56-0D44E2D38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973" y="5355478"/>
            <a:ext cx="5944211" cy="2229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5861" y="207150"/>
            <a:ext cx="992074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Mechanism: The OS-GIL Paradox.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34679" y="1325661"/>
            <a:ext cx="14361041" cy="372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Paradox: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conflict between Operating System (OS) scheduling and Python interpreter semantics.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Perspective: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scheduler assumes all runnable threads can be distributed across available cores for parallel execution.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Perspective: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GIL ensures only one thread executes bytecode at any instant, effectively serializing the orchestration layer.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Consequence: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creates a contention cycle where threads rapidly wake, fail to acquire the lock, and sleep again, wasting CPU cycles on context switches instead of progress.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85AA3-7010-2663-56DF-71CADBF2E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181" y="5148296"/>
            <a:ext cx="7136036" cy="28183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6EE1C9-11DE-0530-C434-4E730E1AE8BD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5647" y="235658"/>
            <a:ext cx="1189910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Technical Innovation: The Blocking Ratio (β).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956930" y="1116289"/>
            <a:ext cx="12716539" cy="374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lightweight profiling metric (&lt;0.3% overhead) to distinguish genuine I/O wait from GIL contention.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Mathematical Formulation: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Instantaneous Ratio: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βᵢ = 1 − t_CPU,i / t_wall,i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Time-Weighted Average: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β̄ = Σ t_wall,i ⋅ βᵢ / Σ t_wall,i</a:t>
            </a: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endParaRPr lang="en-US" sz="2000" b="1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Interpretation: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β: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Threads are waiting for I/O (network/sensors). It is safe to increase concurrency.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β: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Threads are blocked by the GIL or CPU saturation. Adding threads will trigger the saturation cliff.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309E5-CCBC-5FF4-5AFC-AD8E651B3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655" y="4954855"/>
            <a:ext cx="6925070" cy="28803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A5B975-C769-9BA9-F46A-3EAE1D821BF1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695AC7-41C5-5A81-7A16-83CF1327A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151" y="6201186"/>
            <a:ext cx="2945511" cy="1270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ABF5F4-AD19-2294-1E1D-9F9B953D6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641" y="5238878"/>
            <a:ext cx="2646349" cy="96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35" y="206760"/>
            <a:ext cx="1292221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Architecture: Adaptive Thread Pool.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461773" y="1339703"/>
            <a:ext cx="7555176" cy="675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Controller: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feedback loop driven system consisting of three modules.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Instrumentor: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Captures t_CPU and t_wall using high precision OS counters with 0.30 μs median overhead per task.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Collects β samples every 500 ms and applies Exponentially Weighted Moving Average (EWMA) smoothing (α = 0.2) to filter transient noise.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 Logic:</a:t>
            </a: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Hysteresis: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Requires 3 consecutive signals before scaling to ensure stability.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GIL Safety Veto: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Preempts scale up attempts if β_ewma ≤ 0.3, effectively preventing the system from entering the saturation cliff.</a:t>
            </a: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CFAA9-1DB2-3F54-E433-595FF7D92E3F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0398A-669A-3D13-4D21-5C3E5BDD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831" y="951020"/>
            <a:ext cx="4648772" cy="5336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CE2F87-177C-792C-2A6F-C2C935DE7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345" y="6231890"/>
            <a:ext cx="5515745" cy="1790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D55AB6-EC1F-FA89-9C89-B6A94A0F4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95" y="4665836"/>
            <a:ext cx="2319410" cy="349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7231" y="235072"/>
            <a:ext cx="105559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Theoretical Stability and Convergence.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95098" y="1247687"/>
            <a:ext cx="14440204" cy="411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Computational Complexity: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controller operates with O(1) time and O(1) space complexity per interval.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Theorem 2 (Monotonicity):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Under sustained load, the sequence of thread counts is non decreasing until it reaches the safety boundary.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Theorem 3 (Convergence):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system converges to a stable operating point N* that maximizes throughput without violating the GIL safety threshold.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2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Visualization: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controller stabilizes at the intersection of the blocking characteristic curve ℬ(N) and the safety threshold β_thresh.</a:t>
            </a: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8758E-CEC0-226E-277C-13392E45F844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A7DBF-1032-A953-C805-D620AFADA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914" y="4740963"/>
            <a:ext cx="5204572" cy="3349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058" y="171826"/>
            <a:ext cx="763428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Evaluation and Results: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45312" y="996826"/>
            <a:ext cx="14339776" cy="424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adaptive system achieves 96.5% of optimal performance without expert manual tuning.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Efficiency: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93.9% average efficiency across seven edge AI profiles, including vision, RAG, and ONNX MobileNetV2.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Threading Analysis (Python 3.13t):</a:t>
            </a:r>
            <a:r>
              <a:rPr lang="en-US" sz="2000" b="1" dirty="0"/>
              <a:t> 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quad core devices, GIL removal enables ~4x throughput improvement.</a:t>
            </a: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single core devices, the saturation cliff persists due to context switch overhead, validating the β metric for both GIL and no-GIL builds.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Conclusion: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library based approach is essential for memory constrained edge deployments where multiprocessing is infeasible.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55F9F0-C244-F017-4CAF-CF7ED60321D9}"/>
              </a:ext>
            </a:extLst>
          </p:cNvPr>
          <p:cNvSpPr/>
          <p:nvPr/>
        </p:nvSpPr>
        <p:spPr>
          <a:xfrm>
            <a:off x="12424672" y="7440843"/>
            <a:ext cx="2205728" cy="78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956B8-07ED-8F81-82E4-0A61708EA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81" y="5245621"/>
            <a:ext cx="6083354" cy="2734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28ED0-3549-773B-260F-12A6FAA83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859" y="5175512"/>
            <a:ext cx="6987480" cy="2882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AB9E7-B04A-DEE8-72F7-76DD59431BAF}"/>
              </a:ext>
            </a:extLst>
          </p:cNvPr>
          <p:cNvSpPr txBox="1"/>
          <p:nvPr/>
        </p:nvSpPr>
        <p:spPr>
          <a:xfrm>
            <a:off x="1284348" y="4676779"/>
            <a:ext cx="4732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https://github.com/WhiteMetagross/BetaPool</a:t>
            </a:r>
            <a:endParaRPr lang="en-IN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785</Words>
  <Application>Microsoft Office PowerPoint</Application>
  <PresentationFormat>Custom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DM Sans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Vivek Ghosh</cp:lastModifiedBy>
  <cp:revision>38</cp:revision>
  <dcterms:created xsi:type="dcterms:W3CDTF">2026-04-03T11:38:32Z</dcterms:created>
  <dcterms:modified xsi:type="dcterms:W3CDTF">2026-04-03T12:55:15Z</dcterms:modified>
</cp:coreProperties>
</file>